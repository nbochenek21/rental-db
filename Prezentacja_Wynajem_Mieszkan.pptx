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8763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572000" cy="4572000"/>
          </a:xfrm>
          <a:prstGeom prst="ellipse">
            <a:avLst/>
          </a:prstGeom>
          <a:solidFill>
            <a:srgbClr val="13343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10241280" y="4206240"/>
            <a:ext cx="2926080" cy="2926080"/>
          </a:xfrm>
          <a:prstGeom prst="ellipse">
            <a:avLst/>
          </a:prstGeom>
          <a:solidFill>
            <a:srgbClr val="13343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1719072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01752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Obsługi Wynajmu Mieszkań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6868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bazodanowy — PostgreSQL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4892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Pełny cykl życia systemu: analiza • projekt • implementacja • bezpieczeństwo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9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Przedmiot: Bazy Danych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Zakres prezentacji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5394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109728" cy="12801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Shape 4"/>
          <p:cNvSpPr/>
          <p:nvPr/>
        </p:nvSpPr>
        <p:spPr>
          <a:xfrm>
            <a:off x="960120" y="1920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5"/>
          <p:cNvSpPr/>
          <p:nvPr/>
        </p:nvSpPr>
        <p:spPr>
          <a:xfrm>
            <a:off x="9601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91640" y="18105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Dziedzina i cel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91640" y="22128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co system i kogo obsługuje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55080" y="1554480"/>
            <a:ext cx="5394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Shape 9"/>
          <p:cNvSpPr/>
          <p:nvPr/>
        </p:nvSpPr>
        <p:spPr>
          <a:xfrm>
            <a:off x="6355080" y="1554480"/>
            <a:ext cx="109728" cy="12801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Shape 10"/>
          <p:cNvSpPr/>
          <p:nvPr/>
        </p:nvSpPr>
        <p:spPr>
          <a:xfrm>
            <a:off x="6675120" y="1920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1"/>
          <p:cNvSpPr/>
          <p:nvPr/>
        </p:nvSpPr>
        <p:spPr>
          <a:xfrm>
            <a:off x="66751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406640" y="18105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danych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406640" y="22128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encji, ERD, normalizacja 3NF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" y="3108960"/>
            <a:ext cx="5394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" name="Shape 15"/>
          <p:cNvSpPr/>
          <p:nvPr/>
        </p:nvSpPr>
        <p:spPr>
          <a:xfrm>
            <a:off x="640080" y="3108960"/>
            <a:ext cx="109728" cy="12801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9" name="Shape 16"/>
          <p:cNvSpPr/>
          <p:nvPr/>
        </p:nvSpPr>
        <p:spPr>
          <a:xfrm>
            <a:off x="960120" y="3474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0" name="Text 17"/>
          <p:cNvSpPr/>
          <p:nvPr/>
        </p:nvSpPr>
        <p:spPr>
          <a:xfrm>
            <a:off x="96012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691640" y="33649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Implementacja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691640" y="3767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Widoki, funkcje, wyzwalacze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355080" y="3108960"/>
            <a:ext cx="5394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4" name="Shape 21"/>
          <p:cNvSpPr/>
          <p:nvPr/>
        </p:nvSpPr>
        <p:spPr>
          <a:xfrm>
            <a:off x="6355080" y="3108960"/>
            <a:ext cx="109728" cy="12801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5" name="Shape 22"/>
          <p:cNvSpPr/>
          <p:nvPr/>
        </p:nvSpPr>
        <p:spPr>
          <a:xfrm>
            <a:off x="6675120" y="3474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6" name="Text 23"/>
          <p:cNvSpPr/>
          <p:nvPr/>
        </p:nvSpPr>
        <p:spPr>
          <a:xfrm>
            <a:off x="667512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7406640" y="33649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Transakcje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406640" y="3767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Atomowość i poziomy izolacji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0080" y="4663440"/>
            <a:ext cx="5394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0" name="Shape 27"/>
          <p:cNvSpPr/>
          <p:nvPr/>
        </p:nvSpPr>
        <p:spPr>
          <a:xfrm>
            <a:off x="640080" y="4663440"/>
            <a:ext cx="109728" cy="12801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1" name="Shape 28"/>
          <p:cNvSpPr/>
          <p:nvPr/>
        </p:nvSpPr>
        <p:spPr>
          <a:xfrm>
            <a:off x="960120" y="5029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2" name="Text 29"/>
          <p:cNvSpPr/>
          <p:nvPr/>
        </p:nvSpPr>
        <p:spPr>
          <a:xfrm>
            <a:off x="96012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1691640" y="49194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Bezpieczeństwo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691640" y="5321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 ochrona danych wrażliwych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355080" y="4663440"/>
            <a:ext cx="5394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6" name="Shape 33"/>
          <p:cNvSpPr/>
          <p:nvPr/>
        </p:nvSpPr>
        <p:spPr>
          <a:xfrm>
            <a:off x="6355080" y="4663440"/>
            <a:ext cx="109728" cy="12801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7" name="Shape 34"/>
          <p:cNvSpPr/>
          <p:nvPr/>
        </p:nvSpPr>
        <p:spPr>
          <a:xfrm>
            <a:off x="6675120" y="5029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8" name="Text 35"/>
          <p:cNvSpPr/>
          <p:nvPr/>
        </p:nvSpPr>
        <p:spPr>
          <a:xfrm>
            <a:off x="667512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7406640" y="49194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Podsumowanie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7406640" y="5321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zostało zrealizowane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Dziedzina i cel systemu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5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o ogłoszeniach, umowach i płatnościach prowadzone osobno szybko się rozjeżdżają — trudno stwierdzić, które mieszkanie jest wolne, kto zalega i jaka jest historia najemcy.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283464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Rozwiązanie: </a:t>
            </a:r>
            <a:r>
              <a:rPr lang="en-US" sz="15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 spójne źródło prawdy, w którym reguły biznesowe są wymuszane na poziomie bazy — niezależnie od aplikacji.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680960" y="1554480"/>
            <a:ext cx="3840480" cy="4480560"/>
          </a:xfrm>
          <a:prstGeom prst="rect">
            <a:avLst/>
          </a:prstGeom>
          <a:solidFill>
            <a:srgbClr val="0B202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5"/>
          <p:cNvSpPr/>
          <p:nvPr/>
        </p:nvSpPr>
        <p:spPr>
          <a:xfrm>
            <a:off x="786384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Aktorzy systemu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5528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Najemca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55280" y="2679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wynajmuje, jest stroną umowy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Właściciel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955280" y="35935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powierza mieszkania biuru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5528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955280" y="45079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obsługa codzienna systemu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955280" y="5074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955280" y="54223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pełny dostęp, korekty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danych — 7 encji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34747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3"/>
          <p:cNvSpPr/>
          <p:nvPr/>
        </p:nvSpPr>
        <p:spPr>
          <a:xfrm>
            <a:off x="914400" y="1920240"/>
            <a:ext cx="685800" cy="68580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207568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83080" y="19385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najemcy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783080" y="23591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wynajmujących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89120" y="1645920"/>
            <a:ext cx="34747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Shape 7"/>
          <p:cNvSpPr/>
          <p:nvPr/>
        </p:nvSpPr>
        <p:spPr>
          <a:xfrm>
            <a:off x="4663440" y="1920240"/>
            <a:ext cx="685800" cy="68580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207568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32120" y="19385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wlasciciele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532120" y="23591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właściciele mieszkań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138160" y="1645920"/>
            <a:ext cx="34747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Shape 11"/>
          <p:cNvSpPr/>
          <p:nvPr/>
        </p:nvSpPr>
        <p:spPr>
          <a:xfrm>
            <a:off x="8412480" y="1920240"/>
            <a:ext cx="685800" cy="68580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7928" y="2075688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81160" y="19385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mieszkania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281160" y="23591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nieruchomości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0080" y="3566160"/>
            <a:ext cx="34747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" name="Shape 15"/>
          <p:cNvSpPr/>
          <p:nvPr/>
        </p:nvSpPr>
        <p:spPr>
          <a:xfrm>
            <a:off x="914400" y="3840480"/>
            <a:ext cx="685800" cy="68580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" y="3995928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783080" y="38587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ogloszenia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1783080" y="42793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oferty najmu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389120" y="3566160"/>
            <a:ext cx="34747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6" name="Shape 19"/>
          <p:cNvSpPr/>
          <p:nvPr/>
        </p:nvSpPr>
        <p:spPr>
          <a:xfrm>
            <a:off x="4663440" y="3840480"/>
            <a:ext cx="685800" cy="68580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888" y="3995928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532120" y="38587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umowy_najmu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5532120" y="42793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zawarte umowy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8138160" y="3566160"/>
            <a:ext cx="34747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1" name="Shape 23"/>
          <p:cNvSpPr/>
          <p:nvPr/>
        </p:nvSpPr>
        <p:spPr>
          <a:xfrm>
            <a:off x="8412480" y="3840480"/>
            <a:ext cx="685800" cy="685800"/>
          </a:xfrm>
          <a:prstGeom prst="ellipse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67928" y="3995928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281160" y="38587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platnosci</a:t>
            </a:r>
            <a:endParaRPr lang="en-US" sz="1600" dirty="0"/>
          </a:p>
        </p:txBody>
      </p:sp>
      <p:sp>
        <p:nvSpPr>
          <p:cNvPr id="34" name="Text 25"/>
          <p:cNvSpPr/>
          <p:nvPr/>
        </p:nvSpPr>
        <p:spPr>
          <a:xfrm>
            <a:off x="9281160" y="42793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miesięczne należności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historia_najmu</a:t>
            </a: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rejestr trwających i zakończonych najmów (wpis tworzony automatycznie przy zawarciu umowy)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Schemat relacji (ERD)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wlasciciele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108960" y="173736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8" name="Text 5"/>
          <p:cNvSpPr/>
          <p:nvPr/>
        </p:nvSpPr>
        <p:spPr>
          <a:xfrm>
            <a:off x="310896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mieszkania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577840" y="173736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Text 7"/>
          <p:cNvSpPr/>
          <p:nvPr/>
        </p:nvSpPr>
        <p:spPr>
          <a:xfrm>
            <a:off x="557784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ogloszenia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46720" y="278892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Text 9"/>
          <p:cNvSpPr/>
          <p:nvPr/>
        </p:nvSpPr>
        <p:spPr>
          <a:xfrm>
            <a:off x="8046720" y="27889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umowy_najmu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46720" y="173736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Text 11"/>
          <p:cNvSpPr/>
          <p:nvPr/>
        </p:nvSpPr>
        <p:spPr>
          <a:xfrm>
            <a:off x="8046720" y="17373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najemcy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0332720" y="278892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Text 13"/>
          <p:cNvSpPr/>
          <p:nvPr/>
        </p:nvSpPr>
        <p:spPr>
          <a:xfrm>
            <a:off x="10332720" y="27889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platnosci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046720" y="411480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" name="Text 15"/>
          <p:cNvSpPr/>
          <p:nvPr/>
        </p:nvSpPr>
        <p:spPr>
          <a:xfrm>
            <a:off x="8046720" y="41148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historia_najmu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468880" y="2029968"/>
            <a:ext cx="640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Shape 17"/>
          <p:cNvSpPr/>
          <p:nvPr/>
        </p:nvSpPr>
        <p:spPr>
          <a:xfrm>
            <a:off x="4937760" y="2029968"/>
            <a:ext cx="640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Shape 18"/>
          <p:cNvSpPr/>
          <p:nvPr/>
        </p:nvSpPr>
        <p:spPr>
          <a:xfrm>
            <a:off x="7360920" y="2029968"/>
            <a:ext cx="0" cy="105156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Shape 19"/>
          <p:cNvSpPr/>
          <p:nvPr/>
        </p:nvSpPr>
        <p:spPr>
          <a:xfrm>
            <a:off x="7360920" y="3081528"/>
            <a:ext cx="6858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Shape 20"/>
          <p:cNvSpPr/>
          <p:nvPr/>
        </p:nvSpPr>
        <p:spPr>
          <a:xfrm>
            <a:off x="9052560" y="2331720"/>
            <a:ext cx="0" cy="4572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Shape 21"/>
          <p:cNvSpPr/>
          <p:nvPr/>
        </p:nvSpPr>
        <p:spPr>
          <a:xfrm>
            <a:off x="10058400" y="3081528"/>
            <a:ext cx="27432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Shape 22"/>
          <p:cNvSpPr/>
          <p:nvPr/>
        </p:nvSpPr>
        <p:spPr>
          <a:xfrm>
            <a:off x="9052560" y="3383280"/>
            <a:ext cx="0" cy="73152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3"/>
          <p:cNvSpPr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Relacje jeden-do-wielu (1:N) między wszystkimi encjami. Pełny diagram z atrybutami i typami: dokumentacja techniczna.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Normalizacja do 3NF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10881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371600" cy="12344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640080" y="160020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1NF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194560" y="178308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3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Atomowość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194560" y="219456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atrybuty skalarne, brak grup powtarzalnych. Płatności jako osobne wiersze, nie lista w umowie.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017520"/>
            <a:ext cx="10881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640080" y="3017520"/>
            <a:ext cx="1371600" cy="12344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9"/>
          <p:cNvSpPr/>
          <p:nvPr/>
        </p:nvSpPr>
        <p:spPr>
          <a:xfrm>
            <a:off x="640080" y="301752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2NF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194560" y="32004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3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Brak zależności częściowych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194560" y="361188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Klucze główne jednoatrybutowe (id) — częściowa zależność logicznie niemożliwa.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434840"/>
            <a:ext cx="10881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Shape 13"/>
          <p:cNvSpPr/>
          <p:nvPr/>
        </p:nvSpPr>
        <p:spPr>
          <a:xfrm>
            <a:off x="640080" y="4434840"/>
            <a:ext cx="1371600" cy="12344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Text 14"/>
          <p:cNvSpPr/>
          <p:nvPr/>
        </p:nvSpPr>
        <p:spPr>
          <a:xfrm>
            <a:off x="640080" y="443484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3NF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2194560" y="461772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3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Brak zależności przechodnich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2194560" y="502920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właściciela wyniesione z mieszkania do osobnej tabeli; powiązania tylko przez klucze obce.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Sześć tabel w pełnej 3NF; historia_najmu zawiera świadomą, udokumentowaną denormalizację (snapshot archiwalny).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Widoki — 6 raportów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5394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91440" cy="1188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914400" y="18013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v_dostepne_mieszkania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2219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aktywne ogłoszenia (JOIN)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394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Shape 7"/>
          <p:cNvSpPr/>
          <p:nvPr/>
        </p:nvSpPr>
        <p:spPr>
          <a:xfrm>
            <a:off x="6355080" y="1600200"/>
            <a:ext cx="91440" cy="1188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8"/>
          <p:cNvSpPr/>
          <p:nvPr/>
        </p:nvSpPr>
        <p:spPr>
          <a:xfrm>
            <a:off x="6629400" y="18013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v_saldo_umow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219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per umowa (agregacja + FILTER)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3063240"/>
            <a:ext cx="5394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Shape 11"/>
          <p:cNvSpPr/>
          <p:nvPr/>
        </p:nvSpPr>
        <p:spPr>
          <a:xfrm>
            <a:off x="640080" y="3063240"/>
            <a:ext cx="91440" cy="1188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12"/>
          <p:cNvSpPr/>
          <p:nvPr/>
        </p:nvSpPr>
        <p:spPr>
          <a:xfrm>
            <a:off x="914400" y="326440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v_najemcy_zalegli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4400" y="36850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najemcy z zaległościami (podzapytanie)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55080" y="3063240"/>
            <a:ext cx="5394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" name="Shape 15"/>
          <p:cNvSpPr/>
          <p:nvPr/>
        </p:nvSpPr>
        <p:spPr>
          <a:xfrm>
            <a:off x="6355080" y="3063240"/>
            <a:ext cx="91440" cy="1188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9" name="Text 16"/>
          <p:cNvSpPr/>
          <p:nvPr/>
        </p:nvSpPr>
        <p:spPr>
          <a:xfrm>
            <a:off x="6629400" y="326440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v_aktywne_umowy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629400" y="36850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umowy + dni do końca (wielokrotny JOIN)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4526280"/>
            <a:ext cx="5394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2" name="Shape 19"/>
          <p:cNvSpPr/>
          <p:nvPr/>
        </p:nvSpPr>
        <p:spPr>
          <a:xfrm>
            <a:off x="640080" y="4526280"/>
            <a:ext cx="91440" cy="1188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3" name="Text 20"/>
          <p:cNvSpPr/>
          <p:nvPr/>
        </p:nvSpPr>
        <p:spPr>
          <a:xfrm>
            <a:off x="914400" y="47274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v_przychod_miesieczny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14400" y="51480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 wg miesiąca (agregacja czasowa)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355080" y="4526280"/>
            <a:ext cx="5394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6" name="Shape 23"/>
          <p:cNvSpPr/>
          <p:nvPr/>
        </p:nvSpPr>
        <p:spPr>
          <a:xfrm>
            <a:off x="6355080" y="4526280"/>
            <a:ext cx="91440" cy="1188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7" name="Text 24"/>
          <p:cNvSpPr/>
          <p:nvPr/>
        </p:nvSpPr>
        <p:spPr>
          <a:xfrm>
            <a:off x="6629400" y="47274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v_oblozenie_mieszkan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629400" y="51480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stan: wolne / wynajęte (CASE + EXISTS)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Funkcje i procedury (PL/pgSQL)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5394960" cy="4297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39496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822960" y="1600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Funkcje  ·  obliczenia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czy_mieszkanie_wolne()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28163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kontrola kolizji terminów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3520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saldo_umowy()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38679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kwota pozostała do zapłaty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nalicz_platnosc()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49194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tworzy należność, zwraca id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09360" y="1600200"/>
            <a:ext cx="5212080" cy="4297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5" name="Shape 12"/>
          <p:cNvSpPr/>
          <p:nvPr/>
        </p:nvSpPr>
        <p:spPr>
          <a:xfrm>
            <a:off x="6309360" y="1600200"/>
            <a:ext cx="5212080" cy="6400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Text 13"/>
          <p:cNvSpPr/>
          <p:nvPr/>
        </p:nvSpPr>
        <p:spPr>
          <a:xfrm>
            <a:off x="6492240" y="1600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Procedury  ·  zmiana stanu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83680" y="2468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zarejestruj_platnosc()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83680" y="28163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księguje płatność (FOR UPDATE)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58368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oznacz_zaleglosci()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583680" y="38679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masowo: przeterminowane → zaległe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83680" y="4572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zakoncz_umowe()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583680" y="49194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wieloetapowo: umowa + historia + ogłoszenie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Wyzwalacze — automatyzacja reguł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10881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3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93852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709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t_*_mod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554480" y="20574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Aktualizacja znacznika zmodyfikowano przy każdej zmianie rekordu (6 tabel).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" y="2679192"/>
            <a:ext cx="10881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Shape 7"/>
          <p:cNvSpPr/>
          <p:nvPr/>
        </p:nvSpPr>
        <p:spPr>
          <a:xfrm>
            <a:off x="868680" y="290779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01752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t_umowy_walidacja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554480" y="313639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Blokuje zawarcie umowy nakładającej się czasowo z inną aktywną umową na to mieszkanie.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3758184"/>
            <a:ext cx="10881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Shape 11"/>
          <p:cNvSpPr/>
          <p:nvPr/>
        </p:nvSpPr>
        <p:spPr>
          <a:xfrm>
            <a:off x="868680" y="3986784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096512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38679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t_ogloszenie_po_umowie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554480" y="421538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zawarciu aktywnej umowy ogłoszenie automatycznie zmienia status na „zarezerwowane”.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4837176"/>
            <a:ext cx="10881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" name="Shape 15"/>
          <p:cNvSpPr/>
          <p:nvPr/>
        </p:nvSpPr>
        <p:spPr>
          <a:xfrm>
            <a:off x="868680" y="506577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5175504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49469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t_historia_po_umowie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1554480" y="529437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Tworzy otwarty wpis w historii najmu — domykany później przez procedurę zakoncz_umowe().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wyzwalaczy realizujących 4 reguły biznesowe bezpośrednio w bazie danych.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Transakcje i poziomy izolacji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Atomowość: </a:t>
            </a:r>
            <a:r>
              <a:rPr lang="en-US" sz="15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operacje wielokrokowe (np. zawarcie umowy + naliczenie płatności) wykonują się w całości albo wcale.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423160"/>
            <a:ext cx="1088136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7" name="Shape 4"/>
          <p:cNvSpPr/>
          <p:nvPr/>
        </p:nvSpPr>
        <p:spPr>
          <a:xfrm>
            <a:off x="640080" y="2423160"/>
            <a:ext cx="2926080" cy="987552"/>
          </a:xfrm>
          <a:prstGeom prst="rect">
            <a:avLst/>
          </a:prstGeom>
          <a:solidFill>
            <a:srgbClr val="0B202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5"/>
          <p:cNvSpPr/>
          <p:nvPr/>
        </p:nvSpPr>
        <p:spPr>
          <a:xfrm>
            <a:off x="731520" y="2587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COMMITTED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953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B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domyślny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749040" y="25146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Rejestracja płatności z blokadą wiersza FOR UPDATE.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566160"/>
            <a:ext cx="1088136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Shape 9"/>
          <p:cNvSpPr/>
          <p:nvPr/>
        </p:nvSpPr>
        <p:spPr>
          <a:xfrm>
            <a:off x="640080" y="3566160"/>
            <a:ext cx="2926080" cy="987552"/>
          </a:xfrm>
          <a:prstGeom prst="rect">
            <a:avLst/>
          </a:prstGeom>
          <a:solidFill>
            <a:srgbClr val="0B202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Text 10"/>
          <p:cNvSpPr/>
          <p:nvPr/>
        </p:nvSpPr>
        <p:spPr>
          <a:xfrm>
            <a:off x="731520" y="3730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REPEATABLE READ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4096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B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spójny raport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49040" y="36576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odczyty w transakcji widzą ten sam snapshot.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4709160"/>
            <a:ext cx="1088136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7" name="Shape 14"/>
          <p:cNvSpPr/>
          <p:nvPr/>
        </p:nvSpPr>
        <p:spPr>
          <a:xfrm>
            <a:off x="640080" y="4709160"/>
            <a:ext cx="2926080" cy="987552"/>
          </a:xfrm>
          <a:prstGeom prst="rect">
            <a:avLst/>
          </a:prstGeom>
          <a:solidFill>
            <a:srgbClr val="0B202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8" name="Text 15"/>
          <p:cNvSpPr/>
          <p:nvPr/>
        </p:nvSpPr>
        <p:spPr>
          <a:xfrm>
            <a:off x="731520" y="4873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SERIALIZABLE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31520" y="5239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B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pełna izolacja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749040" y="48006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Dwie równoległe płatności za ten sam okres — jedna wycofana (40001), wymaga ponowienia.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Bezpieczeństwo — role i uprawnienia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347472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3474720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Shape 4"/>
          <p:cNvSpPr/>
          <p:nvPr/>
        </p:nvSpPr>
        <p:spPr>
          <a:xfrm>
            <a:off x="2011680" y="18745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20574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2971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rental_admin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60120" y="352044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Pełne prawa: DML + DDL, wykonywanie wszystkich funkcji i procedur.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389120" y="1691640"/>
            <a:ext cx="347472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Shape 8"/>
          <p:cNvSpPr/>
          <p:nvPr/>
        </p:nvSpPr>
        <p:spPr>
          <a:xfrm>
            <a:off x="4389120" y="1691640"/>
            <a:ext cx="3474720" cy="10515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Shape 9"/>
          <p:cNvSpPr/>
          <p:nvPr/>
        </p:nvSpPr>
        <p:spPr>
          <a:xfrm>
            <a:off x="5760720" y="18745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20574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89120" y="2971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rental_agent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709160" y="352044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Odczyt i modyfikacja danych, bez DELETE (usuwanie tylko admin).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38160" y="1691640"/>
            <a:ext cx="347472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" name="Shape 13"/>
          <p:cNvSpPr/>
          <p:nvPr/>
        </p:nvSpPr>
        <p:spPr>
          <a:xfrm>
            <a:off x="8138160" y="1691640"/>
            <a:ext cx="3474720" cy="10515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9" name="Shape 14"/>
          <p:cNvSpPr/>
          <p:nvPr/>
        </p:nvSpPr>
        <p:spPr>
          <a:xfrm>
            <a:off x="9509760" y="18745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0" y="20574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138160" y="2971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rental_readonly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458200" y="352044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Wyłącznie odczyt — bez dostępu do numeru PESEL.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 najmniejszych uprawnień — każda rola dostaje dokładnie tyle praw, ile wynika z jej zadań.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188720" cy="11887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058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868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Ochrona danych wrażliwych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2148840" y="1691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Uprawnienia na poziomie kolumn — przykład: PESEL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2743200"/>
            <a:ext cx="5120640" cy="3108960"/>
          </a:xfrm>
          <a:prstGeom prst="rect">
            <a:avLst/>
          </a:prstGeom>
          <a:solidFill>
            <a:srgbClr val="13343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1005840" y="2926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rental_readonly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35204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FB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imie, email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działa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FB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pesel  /  SELECT *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permission denied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17920" y="2743200"/>
            <a:ext cx="5120640" cy="3108960"/>
          </a:xfrm>
          <a:prstGeom prst="rect">
            <a:avLst/>
          </a:prstGeom>
          <a:solidFill>
            <a:srgbClr val="13343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7"/>
          <p:cNvSpPr/>
          <p:nvPr/>
        </p:nvSpPr>
        <p:spPr>
          <a:xfrm>
            <a:off x="6400800" y="2926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rental_agent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0" y="35204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FB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imie, pesel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działa (pełny dostęp)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FB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potrzebuje PESEL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FB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obsługi umów.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3343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13343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5166360" y="1645920"/>
            <a:ext cx="1828800" cy="18288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1031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37490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Dziękujemy za uwagę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508760" y="4754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Obsługi Wynajmu Mieszkań  ·  PostgreSQL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08760" y="5394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FB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746</Words>
  <Application>Microsoft Office PowerPoint</Application>
  <PresentationFormat>Panoramiczny</PresentationFormat>
  <Paragraphs>156</Paragraphs>
  <Slides>13</Slides>
  <Notes>13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Trebuchet MS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Obsługi Wynajmu Mieszkań</dc:title>
  <dc:subject>PptxGenJS Presentation</dc:subject>
  <dc:creator>Zespół projektowy</dc:creator>
  <cp:lastModifiedBy>Jakub Żak</cp:lastModifiedBy>
  <cp:revision>2</cp:revision>
  <dcterms:created xsi:type="dcterms:W3CDTF">2026-06-07T18:01:06Z</dcterms:created>
  <dcterms:modified xsi:type="dcterms:W3CDTF">2026-06-07T18:06:13Z</dcterms:modified>
</cp:coreProperties>
</file>